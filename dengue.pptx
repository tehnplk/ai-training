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ไข้เลือดออกเกิดจากไวรัสเดงกี ยุงลายเป็นพาหะ อาการเด่นคือไข้สูงลอย 2–7 วัน ปวดศีรษะ ปวดเมื่อย และมีจุดเลือดออก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หลัก 3 เก็บ: เก็บบ้าน เก็บขยะ เก็บน้ำ ถ้ามีไข้สูงให้กินพาราเซตามอลเท่านั้น ห้ามแอสไพรินและไอบูโพรเฟนเพราะเพิ่มความเสี่ยงเลือดออก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รู้ทันโรค</a:t>
            </a:r>
            <a:endParaRPr lang="en-US" sz="2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ไข้เลือด</a:t>
            </a:r>
            <a:pPr algn="l" indent="0" marL="0">
              <a:buNone/>
            </a:pPr>
            <a:r>
              <a:rPr lang="en-US" sz="6600" b="1" dirty="0">
                <a:solidFill>
                  <a:schemeClr val="accent4"/>
                </a:solidFill>
              </a:rPr>
              <a:t>ออก</a:t>
            </a:r>
            <a:endParaRPr lang="en-US" sz="66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331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เกิดจากไวรัสเดงกี มียุงลายเป็นพาหะ</a:t>
            </a:r>
            <a:endParaRPr lang="en-US" sz="2600" dirty="0"/>
          </a:p>
        </p:txBody>
      </p:sp>
      <p:sp>
        <p:nvSpPr>
          <p:cNvPr id="5" name="Symptoms header"/>
          <p:cNvSpPr txBox="1"/>
          <p:nvPr/>
        </p:nvSpPr>
        <p:spPr>
          <a:xfrm>
            <a:off x="548640" y="3154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อาการเด่น</a:t>
            </a:r>
            <a:endParaRPr lang="en-US" sz="2800" dirty="0"/>
          </a:p>
        </p:txBody>
      </p:sp>
      <p:sp>
        <p:nvSpPr>
          <p:cNvPr id="6" name="Symptom 1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Symptom 1 number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ymptom 1 text"/>
          <p:cNvSpPr txBox="1"/>
          <p:nvPr/>
        </p:nvSpPr>
        <p:spPr>
          <a:xfrm>
            <a:off x="1280160" y="3794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ไข้สูงลอย 2–7 วัน</a:t>
            </a:r>
            <a:endParaRPr lang="en-US" sz="2800" dirty="0"/>
          </a:p>
        </p:txBody>
      </p:sp>
      <p:sp>
        <p:nvSpPr>
          <p:cNvPr id="9" name="Symptom 2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Symptom 2 number"/>
          <p:cNvSpPr txBox="1"/>
          <p:nvPr/>
        </p:nvSpPr>
        <p:spPr>
          <a:xfrm>
            <a:off x="5486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ymptom 2 text"/>
          <p:cNvSpPr txBox="1"/>
          <p:nvPr/>
        </p:nvSpPr>
        <p:spPr>
          <a:xfrm>
            <a:off x="1280160" y="4572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ปวดหัว ปวดเมื่อยตัว</a:t>
            </a:r>
            <a:endParaRPr lang="en-US" sz="2800" dirty="0"/>
          </a:p>
        </p:txBody>
      </p:sp>
      <p:sp>
        <p:nvSpPr>
          <p:cNvPr id="12" name="Symptom 3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Symptom 3 number"/>
          <p:cNvSpPr txBox="1"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Symptom 3 text"/>
          <p:cNvSpPr txBox="1"/>
          <p:nvPr/>
        </p:nvSpPr>
        <p:spPr>
          <a:xfrm>
            <a:off x="1280160" y="5349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มีจุดเลือดออกตามผิวหนัง</a:t>
            </a:r>
            <a:endParaRPr lang="en-US" sz="2800" dirty="0"/>
          </a:p>
        </p:txBody>
      </p:sp>
      <p:pic>
        <p:nvPicPr>
          <p:cNvPr id="15" name="Mosquito illustration" descr="ภาพวาดยุงลาย ลำตัวดำมีลายขาวที่อกและข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914400"/>
            <a:ext cx="5212080" cy="4033157"/>
          </a:xfrm>
          <a:prstGeom prst="rect">
            <a:avLst/>
          </a:prstGeom>
        </p:spPr>
      </p:pic>
      <p:sp>
        <p:nvSpPr>
          <p:cNvPr id="16" name="Mosquito caption"/>
          <p:cNvSpPr txBox="1"/>
          <p:nvPr/>
        </p:nvSpPr>
        <p:spPr>
          <a:xfrm>
            <a:off x="6583680" y="5074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ยุงลายกัดตอนกลางวัน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ป้องกันด้วยหลัก 3 เก็บ</a:t>
            </a:r>
            <a:endParaRPr lang="en-US" sz="4400" dirty="0"/>
          </a:p>
        </p:txBody>
      </p:sp>
      <p:pic>
        <p:nvPicPr>
          <p:cNvPr id="3" name="Containers illustration" descr="โอ่งน้ำปิดฝา (ถูก) และยางรถเก่ามีน้ำขังกับลูกน้ำ (ผิด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760720" cy="3098569"/>
          </a:xfrm>
          <a:prstGeom prst="rect">
            <a:avLst/>
          </a:prstGeom>
        </p:spPr>
      </p:pic>
      <p:sp>
        <p:nvSpPr>
          <p:cNvPr id="4" name="Containers caption"/>
          <p:cNvSpPr txBox="1"/>
          <p:nvPr/>
        </p:nvSpPr>
        <p:spPr>
          <a:xfrm>
            <a:off x="548640" y="4561609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ปิดฝาโอ่ง  ไม่ให้น้ำขังในยางเก่า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6675120" y="1371600"/>
            <a:ext cx="49377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E1612">
                <a:alpha val="12000"/>
              </a:srgbClr>
            </a:outerShdw>
          </a:effectLst>
        </p:spPr>
      </p:sp>
      <p:sp>
        <p:nvSpPr>
          <p:cNvPr id="6" name="Card 1 dot"/>
          <p:cNvSpPr/>
          <p:nvPr/>
        </p:nvSpPr>
        <p:spPr>
          <a:xfrm>
            <a:off x="6903720" y="169164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Card 1 dot number"/>
          <p:cNvSpPr txBox="1"/>
          <p:nvPr/>
        </p:nvSpPr>
        <p:spPr>
          <a:xfrm>
            <a:off x="69037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Card 1 title"/>
          <p:cNvSpPr txBox="1"/>
          <p:nvPr/>
        </p:nvSpPr>
        <p:spPr>
          <a:xfrm>
            <a:off x="7726680" y="14813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เก็บบ้าน</a:t>
            </a:r>
            <a:endParaRPr lang="en-US" sz="3000" dirty="0"/>
          </a:p>
        </p:txBody>
      </p:sp>
      <p:sp>
        <p:nvSpPr>
          <p:cNvPr id="9" name="Card 1 text"/>
          <p:cNvSpPr txBox="1"/>
          <p:nvPr/>
        </p:nvSpPr>
        <p:spPr>
          <a:xfrm>
            <a:off x="7726680" y="2029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บ้านโปร่ง ไม่อับทึบ</a:t>
            </a:r>
            <a:endParaRPr lang="en-US" sz="2200" dirty="0"/>
          </a:p>
        </p:txBody>
      </p:sp>
      <p:sp>
        <p:nvSpPr>
          <p:cNvPr id="10" name="Card 2"/>
          <p:cNvSpPr/>
          <p:nvPr/>
        </p:nvSpPr>
        <p:spPr>
          <a:xfrm>
            <a:off x="6675120" y="2788920"/>
            <a:ext cx="49377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381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E1612">
                <a:alpha val="12000"/>
              </a:srgbClr>
            </a:outerShdw>
          </a:effectLst>
        </p:spPr>
      </p:sp>
      <p:sp>
        <p:nvSpPr>
          <p:cNvPr id="11" name="Card 2 dot"/>
          <p:cNvSpPr/>
          <p:nvPr/>
        </p:nvSpPr>
        <p:spPr>
          <a:xfrm>
            <a:off x="6903720" y="3108960"/>
            <a:ext cx="640080" cy="6400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Card 2 dot number"/>
          <p:cNvSpPr txBox="1"/>
          <p:nvPr/>
        </p:nvSpPr>
        <p:spPr>
          <a:xfrm>
            <a:off x="69037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Card 2 title"/>
          <p:cNvSpPr txBox="1"/>
          <p:nvPr/>
        </p:nvSpPr>
        <p:spPr>
          <a:xfrm>
            <a:off x="7726680" y="28986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เก็บขยะ</a:t>
            </a:r>
            <a:endParaRPr lang="en-US" sz="3000" dirty="0"/>
          </a:p>
        </p:txBody>
      </p:sp>
      <p:sp>
        <p:nvSpPr>
          <p:cNvPr id="14" name="Card 2 text"/>
          <p:cNvSpPr txBox="1"/>
          <p:nvPr/>
        </p:nvSpPr>
        <p:spPr>
          <a:xfrm>
            <a:off x="7726680" y="3447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ทิ้งยางเก่า กระป๋อง ขวด</a:t>
            </a:r>
            <a:endParaRPr lang="en-US" sz="2200" dirty="0"/>
          </a:p>
        </p:txBody>
      </p:sp>
      <p:sp>
        <p:nvSpPr>
          <p:cNvPr id="15" name="Card 3"/>
          <p:cNvSpPr/>
          <p:nvPr/>
        </p:nvSpPr>
        <p:spPr>
          <a:xfrm>
            <a:off x="6675120" y="4206240"/>
            <a:ext cx="49377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E1612">
                <a:alpha val="12000"/>
              </a:srgbClr>
            </a:outerShdw>
          </a:effectLst>
        </p:spPr>
      </p:sp>
      <p:sp>
        <p:nvSpPr>
          <p:cNvPr id="16" name="Card 3 dot"/>
          <p:cNvSpPr/>
          <p:nvPr/>
        </p:nvSpPr>
        <p:spPr>
          <a:xfrm>
            <a:off x="6903720" y="4526280"/>
            <a:ext cx="640080" cy="6400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Card 3 dot number"/>
          <p:cNvSpPr txBox="1"/>
          <p:nvPr/>
        </p:nvSpPr>
        <p:spPr>
          <a:xfrm>
            <a:off x="690372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Card 3 title"/>
          <p:cNvSpPr txBox="1"/>
          <p:nvPr/>
        </p:nvSpPr>
        <p:spPr>
          <a:xfrm>
            <a:off x="7726680" y="4315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เก็บน้ำ</a:t>
            </a:r>
            <a:endParaRPr lang="en-US" sz="3000" dirty="0"/>
          </a:p>
        </p:txBody>
      </p:sp>
      <p:sp>
        <p:nvSpPr>
          <p:cNvPr id="19" name="Card 3 text"/>
          <p:cNvSpPr txBox="1"/>
          <p:nvPr/>
        </p:nvSpPr>
        <p:spPr>
          <a:xfrm>
            <a:off x="7726680" y="48646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ปิดฝาโอ่ง เปลี่ยนน้ำทุก 7 วัน</a:t>
            </a:r>
            <a:endParaRPr lang="en-US" sz="2200" dirty="0"/>
          </a:p>
        </p:txBody>
      </p:sp>
      <p:sp>
        <p:nvSpPr>
          <p:cNvPr id="20" name="Warning box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5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Warning text"/>
          <p:cNvSpPr txBox="1"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มีไข้สูง: </a:t>
            </a:r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กินพาราเซตามอลเท่านั้น ห้ามแอสไพริน/ไอบูโพรเฟน รีบพบแพทย์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ngue Storybook">
  <a:themeElements>
    <a:clrScheme name="Dengue Storybook">
      <a:dk1>
        <a:srgbClr val="1B2A4A"/>
      </a:dk1>
      <a:lt1>
        <a:srgbClr val="FFFFFF"/>
      </a:lt1>
      <a:dk2>
        <a:srgbClr val="3D5A80"/>
      </a:dk2>
      <a:lt2>
        <a:srgbClr val="E6F6FF"/>
      </a:lt2>
      <a:accent1>
        <a:srgbClr val="F03A47"/>
      </a:accent1>
      <a:accent2>
        <a:srgbClr val="22C55E"/>
      </a:accent2>
      <a:accent3>
        <a:srgbClr val="2EB8FF"/>
      </a:accent3>
      <a:accent4>
        <a:srgbClr val="FF7A2F"/>
      </a:accent4>
      <a:accent5>
        <a:srgbClr val="FFC727"/>
      </a:accent5>
      <a:accent6>
        <a:srgbClr val="8B5CF6"/>
      </a:accent6>
      <a:hlink>
        <a:srgbClr val="2EB8FF"/>
      </a:hlink>
      <a:folHlink>
        <a:srgbClr val="8B5CF6"/>
      </a:folHlink>
    </a:clrScheme>
    <a:fontScheme name="Dengue Storybook">
      <a:majorFont>
        <a:latin typeface="Leelawade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ไข้เลือดออก</dc:title>
  <dc:subject>PptxGenJS Presentation</dc:subject>
  <dc:creator>PptxGenJS</dc:creator>
  <cp:lastModifiedBy>PptxGenJS</cp:lastModifiedBy>
  <cp:revision>1</cp:revision>
  <dcterms:created xsi:type="dcterms:W3CDTF">2026-10-12T16:10:10Z</dcterms:created>
  <dcterms:modified xsi:type="dcterms:W3CDTF">2026-10-12T16:10:10Z</dcterms:modified>
</cp:coreProperties>
</file>